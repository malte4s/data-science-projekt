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 id="2147483653" r:id="rId3"/>
  </p:sldMasterIdLst>
  <p:notesMasterIdLst>
    <p:notesMasterId r:id="rId11"/>
  </p:notesMasterIdLst>
  <p:sldIdLst>
    <p:sldId id="283" r:id="rId4"/>
    <p:sldId id="280" r:id="rId5"/>
    <p:sldId id="284" r:id="rId6"/>
    <p:sldId id="281" r:id="rId7"/>
    <p:sldId id="288" r:id="rId8"/>
    <p:sldId id="286" r:id="rId9"/>
    <p:sldId id="287" r:id="rId10"/>
  </p:sldIdLst>
  <p:sldSz cx="11520488" cy="6480175"/>
  <p:notesSz cx="7559675" cy="1069181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B0A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EC8860-0653-EB6B-B8FB-3D2EA20666FF}" v="2" dt="2026-08-20T12:17:36.648"/>
    <p1510:client id="{3C409CE4-7F10-6CA1-A188-4A30B5380B59}" v="15" dt="2026-08-20T20:57:40.739"/>
    <p1510:client id="{A7FD3A9B-6B02-5949-4A6E-45DF6900A2D9}" v="4" dt="2026-08-20T11:12:35.514"/>
    <p1510:client id="{B9B67AFC-7817-BF56-ED88-BB896AE68FF5}" v="44" dt="2026-08-21T07:35:20.220"/>
    <p1510:client id="{BB41C0A7-433C-06AA-A4BC-DA459EE7E685}" v="11" dt="2026-08-20T11:50:40.006"/>
    <p1510:client id="{BFA17408-520D-7498-6F70-3D7D5884EE3F}" v="2" dt="2026-08-20T21:03:29.109"/>
    <p1510:client id="{C6AF2ACB-5B0C-1A0E-27F3-F4BC8985762A}" v="217" dt="2026-08-20T12:57:08.199"/>
    <p1510:client id="{D0558D0C-429C-FA5E-6802-65812E4ED615}" v="64" dt="2026-08-21T08:57:00.729"/>
    <p1510:client id="{E7B633C9-175A-4AB8-95ED-5787B159A645}" v="899" dt="2026-08-21T08:16:13.553"/>
    <p1510:client id="{F5E39279-EBA0-3BC2-585B-569B8FE32206}" v="3" dt="2026-08-20T11:56:01.2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64"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69E0EA9E-6C8B-41BA-8274-C9B9CB404151}" type="datetimeFigureOut">
              <a:rPr lang="de-DE" smtClean="0"/>
              <a:t>21.08.2026</a:t>
            </a:fld>
            <a:endParaRPr lang="de-DE"/>
          </a:p>
        </p:txBody>
      </p:sp>
      <p:sp>
        <p:nvSpPr>
          <p:cNvPr id="4" name="Folienbildplatzhalt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FCCB5B56-33A0-4B92-BA49-2446356B3393}" type="slidenum">
              <a:rPr lang="de-DE" smtClean="0"/>
              <a:t>‹Nr.›</a:t>
            </a:fld>
            <a:endParaRPr lang="de-DE"/>
          </a:p>
        </p:txBody>
      </p:sp>
    </p:spTree>
    <p:extLst>
      <p:ext uri="{BB962C8B-B14F-4D97-AF65-F5344CB8AC3E}">
        <p14:creationId xmlns:p14="http://schemas.microsoft.com/office/powerpoint/2010/main" val="3896471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FCCB5B56-33A0-4B92-BA49-2446356B3393}" type="slidenum">
              <a:rPr lang="de-DE" smtClean="0"/>
              <a:t>2</a:t>
            </a:fld>
            <a:endParaRPr lang="de-DE"/>
          </a:p>
        </p:txBody>
      </p:sp>
    </p:spTree>
    <p:extLst>
      <p:ext uri="{BB962C8B-B14F-4D97-AF65-F5344CB8AC3E}">
        <p14:creationId xmlns:p14="http://schemas.microsoft.com/office/powerpoint/2010/main" val="3964959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4FBBF-F9F8-37AB-4209-C0620E34D0F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187C782-3008-8A16-7797-1E69381F668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A02AAEE-D6FD-6260-6753-1F08ED62767A}"/>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A0AE02F-E5F7-0B5B-545C-F5D393F4877C}"/>
              </a:ext>
            </a:extLst>
          </p:cNvPr>
          <p:cNvSpPr>
            <a:spLocks noGrp="1"/>
          </p:cNvSpPr>
          <p:nvPr>
            <p:ph type="sldNum" sz="quarter" idx="5"/>
          </p:nvPr>
        </p:nvSpPr>
        <p:spPr/>
        <p:txBody>
          <a:bodyPr/>
          <a:lstStyle/>
          <a:p>
            <a:fld id="{FCCB5B56-33A0-4B92-BA49-2446356B3393}" type="slidenum">
              <a:rPr lang="de-DE" smtClean="0"/>
              <a:t>5</a:t>
            </a:fld>
            <a:endParaRPr lang="de-DE"/>
          </a:p>
        </p:txBody>
      </p:sp>
    </p:spTree>
    <p:extLst>
      <p:ext uri="{BB962C8B-B14F-4D97-AF65-F5344CB8AC3E}">
        <p14:creationId xmlns:p14="http://schemas.microsoft.com/office/powerpoint/2010/main" val="1462469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Hauptfolie leer">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Einfache Folie 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0213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inimal 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0415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CustomShape 9"/>
          <p:cNvSpPr/>
          <p:nvPr/>
        </p:nvSpPr>
        <p:spPr>
          <a:xfrm>
            <a:off x="11196720" y="5864400"/>
            <a:ext cx="357480" cy="109800"/>
          </a:xfrm>
          <a:prstGeom prst="rect">
            <a:avLst/>
          </a:prstGeom>
          <a:solidFill>
            <a:srgbClr val="003D86"/>
          </a:solidFill>
          <a:ln>
            <a:noFill/>
          </a:ln>
        </p:spPr>
        <p:style>
          <a:lnRef idx="0">
            <a:scrgbClr r="0" g="0" b="0"/>
          </a:lnRef>
          <a:fillRef idx="0">
            <a:scrgbClr r="0" g="0" b="0"/>
          </a:fillRef>
          <a:effectRef idx="0">
            <a:scrgbClr r="0" g="0" b="0"/>
          </a:effectRef>
          <a:fontRef idx="minor"/>
        </p:style>
        <p:txBody>
          <a:bodyPr/>
          <a:lstStyle/>
          <a:p>
            <a:endParaRPr lang="de-DE"/>
          </a:p>
        </p:txBody>
      </p:sp>
      <p:pic>
        <p:nvPicPr>
          <p:cNvPr id="2" name="Grafik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000" y="-72000"/>
            <a:ext cx="11592000" cy="1440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000" kern="1200">
          <a:solidFill>
            <a:schemeClr val="tx1"/>
          </a:solidFill>
          <a:latin typeface="URW DIN"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5" name="CustomShape 9"/>
          <p:cNvSpPr/>
          <p:nvPr userDrawn="1"/>
        </p:nvSpPr>
        <p:spPr>
          <a:xfrm>
            <a:off x="11196720" y="5864400"/>
            <a:ext cx="357480" cy="109800"/>
          </a:xfrm>
          <a:prstGeom prst="rect">
            <a:avLst/>
          </a:prstGeom>
          <a:solidFill>
            <a:srgbClr val="003D86"/>
          </a:solidFill>
          <a:ln>
            <a:noFill/>
          </a:ln>
        </p:spPr>
        <p:style>
          <a:lnRef idx="0">
            <a:scrgbClr r="0" g="0" b="0"/>
          </a:lnRef>
          <a:fillRef idx="0">
            <a:scrgbClr r="0" g="0" b="0"/>
          </a:fillRef>
          <a:effectRef idx="0">
            <a:scrgbClr r="0" g="0" b="0"/>
          </a:effectRef>
          <a:fontRef idx="minor"/>
        </p:style>
        <p:txBody>
          <a:bodyPr/>
          <a:lstStyle/>
          <a:p>
            <a:endParaRPr lang="de-DE"/>
          </a:p>
        </p:txBody>
      </p:sp>
      <p:pic>
        <p:nvPicPr>
          <p:cNvPr id="2" name="Grafik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000" y="-72000"/>
            <a:ext cx="11592000" cy="1080000"/>
          </a:xfrm>
          <a:prstGeom prst="rect">
            <a:avLst/>
          </a:prstGeom>
        </p:spPr>
      </p:pic>
    </p:spTree>
    <p:extLst>
      <p:ext uri="{BB962C8B-B14F-4D97-AF65-F5344CB8AC3E}">
        <p14:creationId xmlns:p14="http://schemas.microsoft.com/office/powerpoint/2010/main" val="882793224"/>
      </p:ext>
    </p:extLst>
  </p:cSld>
  <p:clrMap bg1="lt1" tx1="dk1" bg2="lt2" tx2="dk2" accent1="accent1" accent2="accent2" accent3="accent3" accent4="accent4" accent5="accent5" accent6="accent6" hlink="hlink" folHlink="folHlink"/>
  <p:sldLayoutIdLst>
    <p:sldLayoutId id="2147483652" r:id="rId1"/>
  </p:sldLayoutIdLst>
  <p:txStyles>
    <p:titleStyle>
      <a:lvl1pPr algn="l" defTabSz="914400" rtl="0" eaLnBrk="1" latinLnBrk="0" hangingPunct="1">
        <a:lnSpc>
          <a:spcPct val="90000"/>
        </a:lnSpc>
        <a:spcBef>
          <a:spcPct val="0"/>
        </a:spcBef>
        <a:buNone/>
        <a:defRPr sz="4000" kern="1200">
          <a:solidFill>
            <a:schemeClr val="tx1"/>
          </a:solidFill>
          <a:latin typeface="URW DIN"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Grafik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000" y="-72000"/>
            <a:ext cx="11592000" cy="720000"/>
          </a:xfrm>
          <a:prstGeom prst="rect">
            <a:avLst/>
          </a:prstGeom>
        </p:spPr>
      </p:pic>
    </p:spTree>
    <p:extLst>
      <p:ext uri="{BB962C8B-B14F-4D97-AF65-F5344CB8AC3E}">
        <p14:creationId xmlns:p14="http://schemas.microsoft.com/office/powerpoint/2010/main" val="156060635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76D66A8D-30E1-D510-AF59-E1F55BA15E08}"/>
              </a:ext>
            </a:extLst>
          </p:cNvPr>
          <p:cNvSpPr txBox="1"/>
          <p:nvPr/>
        </p:nvSpPr>
        <p:spPr>
          <a:xfrm>
            <a:off x="3748088" y="2686089"/>
            <a:ext cx="7772400" cy="1107996"/>
          </a:xfrm>
          <a:prstGeom prst="rect">
            <a:avLst/>
          </a:prstGeom>
          <a:noFill/>
        </p:spPr>
        <p:txBody>
          <a:bodyPr wrap="square" lIns="91440" tIns="45720" rIns="91440" bIns="45720" rtlCol="0">
            <a:spAutoFit/>
          </a:bodyPr>
          <a:lstStyle/>
          <a:p>
            <a:r>
              <a:rPr lang="en-GB" sz="6600" b="1" noProof="0">
                <a:latin typeface="Arial"/>
                <a:cs typeface="Arial"/>
              </a:rPr>
              <a:t>Group 1</a:t>
            </a:r>
          </a:p>
        </p:txBody>
      </p:sp>
      <p:sp>
        <p:nvSpPr>
          <p:cNvPr id="3" name="Textfeld 2">
            <a:extLst>
              <a:ext uri="{FF2B5EF4-FFF2-40B4-BE49-F238E27FC236}">
                <a16:creationId xmlns:a16="http://schemas.microsoft.com/office/drawing/2014/main" id="{D1FCBA1F-41E8-369F-1D7E-C0A23A30E0AB}"/>
              </a:ext>
            </a:extLst>
          </p:cNvPr>
          <p:cNvSpPr txBox="1"/>
          <p:nvPr/>
        </p:nvSpPr>
        <p:spPr>
          <a:xfrm>
            <a:off x="3748086" y="3667695"/>
            <a:ext cx="3740416"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1000">
                <a:solidFill>
                  <a:srgbClr val="1D2125"/>
                </a:solidFill>
                <a:highlight>
                  <a:srgbClr val="FFFFFF"/>
                </a:highlight>
                <a:ea typeface="+mn-lt"/>
                <a:cs typeface="+mn-lt"/>
              </a:rPr>
              <a:t>Hai Anh Dang, Sören Green, Malte Schneider, Nico </a:t>
            </a:r>
            <a:r>
              <a:rPr lang="de-DE" sz="1000" err="1">
                <a:solidFill>
                  <a:srgbClr val="1D2125"/>
                </a:solidFill>
                <a:highlight>
                  <a:srgbClr val="FFFFFF"/>
                </a:highlight>
                <a:ea typeface="+mn-lt"/>
                <a:cs typeface="+mn-lt"/>
              </a:rPr>
              <a:t>Haß</a:t>
            </a:r>
            <a:endParaRPr lang="de-DE" sz="1000"/>
          </a:p>
        </p:txBody>
      </p:sp>
    </p:spTree>
    <p:extLst>
      <p:ext uri="{BB962C8B-B14F-4D97-AF65-F5344CB8AC3E}">
        <p14:creationId xmlns:p14="http://schemas.microsoft.com/office/powerpoint/2010/main" val="2721314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p:cNvSpPr/>
          <p:nvPr/>
        </p:nvSpPr>
        <p:spPr>
          <a:xfrm>
            <a:off x="540000" y="2340267"/>
            <a:ext cx="10079640" cy="1799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lstStyle/>
          <a:p>
            <a:pPr marL="285750" indent="-285750">
              <a:lnSpc>
                <a:spcPct val="150000"/>
              </a:lnSpc>
              <a:buFont typeface="Arial" panose="020B0604020202020204" pitchFamily="34" charset="0"/>
              <a:buChar char="•"/>
            </a:pPr>
            <a:r>
              <a:rPr lang="en-GB" sz="1600" b="1" spc="-1" noProof="0" err="1">
                <a:solidFill>
                  <a:srgbClr val="000000"/>
                </a:solidFill>
                <a:latin typeface="Arial"/>
                <a:ea typeface="DejaVu Sans"/>
              </a:rPr>
              <a:t>Mediacloud</a:t>
            </a:r>
            <a:r>
              <a:rPr lang="en-GB" sz="1600" b="1" spc="-1" noProof="0">
                <a:solidFill>
                  <a:srgbClr val="000000"/>
                </a:solidFill>
                <a:latin typeface="Arial"/>
                <a:ea typeface="DejaVu Sans"/>
              </a:rPr>
              <a:t> API</a:t>
            </a:r>
          </a:p>
          <a:p>
            <a:pPr marL="285750" indent="-285750">
              <a:lnSpc>
                <a:spcPct val="150000"/>
              </a:lnSpc>
              <a:buFont typeface="Arial" panose="020B0604020202020204" pitchFamily="34" charset="0"/>
              <a:buChar char="•"/>
            </a:pPr>
            <a:r>
              <a:rPr lang="en-GB" sz="1600" b="1" spc="-1">
                <a:solidFill>
                  <a:srgbClr val="000000"/>
                </a:solidFill>
                <a:latin typeface="Arial"/>
                <a:ea typeface="DejaVu Sans"/>
              </a:rPr>
              <a:t>yfinance API</a:t>
            </a:r>
            <a:endParaRPr lang="en-GB" sz="1600" b="1" spc="-1" noProof="0">
              <a:solidFill>
                <a:srgbClr val="000000"/>
              </a:solidFill>
              <a:latin typeface="Arial"/>
              <a:ea typeface="DejaVu Sans"/>
            </a:endParaRPr>
          </a:p>
          <a:p>
            <a:pPr marL="285750" indent="-285750">
              <a:lnSpc>
                <a:spcPct val="150000"/>
              </a:lnSpc>
              <a:buFont typeface="Arial" panose="020B0604020202020204" pitchFamily="34" charset="0"/>
              <a:buChar char="•"/>
            </a:pPr>
            <a:r>
              <a:rPr lang="en-GB" sz="1600" b="1" spc="-1" noProof="0"/>
              <a:t>RSF Index CSV</a:t>
            </a:r>
          </a:p>
          <a:p>
            <a:pPr>
              <a:lnSpc>
                <a:spcPct val="150000"/>
              </a:lnSpc>
            </a:pPr>
            <a:endParaRPr lang="en-GB" sz="1600" b="1" spc="-1" noProof="0"/>
          </a:p>
        </p:txBody>
      </p:sp>
      <p:sp>
        <p:nvSpPr>
          <p:cNvPr id="5" name="CustomShape 3"/>
          <p:cNvSpPr/>
          <p:nvPr/>
        </p:nvSpPr>
        <p:spPr>
          <a:xfrm>
            <a:off x="540000" y="1260000"/>
            <a:ext cx="7913535" cy="900000"/>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lstStyle/>
          <a:p>
            <a:r>
              <a:rPr lang="en-GB" sz="2800" b="1" spc="-1" noProof="0">
                <a:solidFill>
                  <a:srgbClr val="000000"/>
                </a:solidFill>
                <a:latin typeface="Arial"/>
              </a:rPr>
              <a:t>Topic 1: </a:t>
            </a:r>
            <a:r>
              <a:rPr lang="en-GB" sz="2800" b="1" noProof="0"/>
              <a:t>What's the impact of crisis-related events in the news on stock markets</a:t>
            </a:r>
          </a:p>
          <a:p>
            <a:pPr>
              <a:lnSpc>
                <a:spcPct val="100000"/>
              </a:lnSpc>
            </a:pPr>
            <a:endParaRPr lang="en-GB" sz="2800" b="0" strike="noStrike" spc="-1" noProof="0">
              <a:latin typeface="Arial"/>
            </a:endParaRPr>
          </a:p>
        </p:txBody>
      </p:sp>
      <p:pic>
        <p:nvPicPr>
          <p:cNvPr id="9" name="Grafik 8">
            <a:extLst>
              <a:ext uri="{FF2B5EF4-FFF2-40B4-BE49-F238E27FC236}">
                <a16:creationId xmlns:a16="http://schemas.microsoft.com/office/drawing/2014/main" id="{7BAD4186-4DA3-85AA-4535-5A286AE551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41073" y="2340267"/>
            <a:ext cx="5247091" cy="3038297"/>
          </a:xfrm>
          <a:prstGeom prst="rect">
            <a:avLst/>
          </a:prstGeom>
        </p:spPr>
      </p:pic>
    </p:spTree>
    <p:extLst>
      <p:ext uri="{BB962C8B-B14F-4D97-AF65-F5344CB8AC3E}">
        <p14:creationId xmlns:p14="http://schemas.microsoft.com/office/powerpoint/2010/main" val="47646573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1F91D-FD39-9777-7D0F-26FB9926D814}"/>
            </a:ext>
          </a:extLst>
        </p:cNvPr>
        <p:cNvGrpSpPr/>
        <p:nvPr/>
      </p:nvGrpSpPr>
      <p:grpSpPr>
        <a:xfrm>
          <a:off x="0" y="0"/>
          <a:ext cx="0" cy="0"/>
          <a:chOff x="0" y="0"/>
          <a:chExt cx="0" cy="0"/>
        </a:xfrm>
      </p:grpSpPr>
      <p:sp>
        <p:nvSpPr>
          <p:cNvPr id="2" name="CustomShape 1">
            <a:extLst>
              <a:ext uri="{FF2B5EF4-FFF2-40B4-BE49-F238E27FC236}">
                <a16:creationId xmlns:a16="http://schemas.microsoft.com/office/drawing/2014/main" id="{6D472483-3D60-1076-D308-04A501BF4309}"/>
              </a:ext>
            </a:extLst>
          </p:cNvPr>
          <p:cNvSpPr/>
          <p:nvPr/>
        </p:nvSpPr>
        <p:spPr>
          <a:xfrm>
            <a:off x="540000" y="2160000"/>
            <a:ext cx="10079640" cy="3631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lstStyle/>
          <a:p>
            <a:pPr marL="285750" indent="-285750">
              <a:lnSpc>
                <a:spcPct val="150000"/>
              </a:lnSpc>
              <a:buFont typeface="Arial" panose="020B0604020202020204" pitchFamily="34" charset="0"/>
              <a:buChar char="•"/>
            </a:pPr>
            <a:r>
              <a:rPr lang="en-GB" noProof="0"/>
              <a:t>Is the impact from news or the impact from an actual economic change bigger within Europe on different markets (artificial vs. real impact)?</a:t>
            </a:r>
          </a:p>
          <a:p>
            <a:pPr marL="285750" indent="-285750">
              <a:lnSpc>
                <a:spcPct val="150000"/>
              </a:lnSpc>
              <a:buFont typeface="Arial" panose="020B0604020202020204" pitchFamily="34" charset="0"/>
              <a:buChar char="•"/>
            </a:pPr>
            <a:r>
              <a:rPr lang="en-GB" noProof="0"/>
              <a:t>Do markets become more resistant to the impact of </a:t>
            </a:r>
            <a:r>
              <a:rPr lang="de-DE" err="1"/>
              <a:t>recurring</a:t>
            </a:r>
            <a:r>
              <a:rPr lang="en-GB" noProof="0"/>
              <a:t> natural disasters over time, and how does the effect differ between Japan and </a:t>
            </a:r>
            <a:r>
              <a:rPr lang="en-GB"/>
              <a:t>Southern Europe</a:t>
            </a:r>
            <a:r>
              <a:rPr lang="en-GB" noProof="0"/>
              <a:t>?</a:t>
            </a:r>
          </a:p>
          <a:p>
            <a:pPr marL="285750" indent="-285750">
              <a:lnSpc>
                <a:spcPct val="150000"/>
              </a:lnSpc>
              <a:buFont typeface="Arial" panose="020B0604020202020204" pitchFamily="34" charset="0"/>
              <a:buChar char="•"/>
            </a:pPr>
            <a:r>
              <a:rPr lang="en-GB" noProof="0"/>
              <a:t>After a global crisis-related news shock, which of the 11 GICS recover fastest?</a:t>
            </a:r>
            <a:endParaRPr lang="en-GB" sz="1600" spc="-1" noProof="0"/>
          </a:p>
          <a:p>
            <a:pPr>
              <a:lnSpc>
                <a:spcPct val="150000"/>
              </a:lnSpc>
            </a:pPr>
            <a:endParaRPr lang="en-GB" sz="1600" b="0" strike="noStrike" spc="-1" noProof="0">
              <a:latin typeface="Arial"/>
            </a:endParaRPr>
          </a:p>
        </p:txBody>
      </p:sp>
      <p:sp>
        <p:nvSpPr>
          <p:cNvPr id="4" name="CustomShape 3">
            <a:extLst>
              <a:ext uri="{FF2B5EF4-FFF2-40B4-BE49-F238E27FC236}">
                <a16:creationId xmlns:a16="http://schemas.microsoft.com/office/drawing/2014/main" id="{795BA6E7-2285-7BD9-8230-D2C1A8517589}"/>
              </a:ext>
            </a:extLst>
          </p:cNvPr>
          <p:cNvSpPr/>
          <p:nvPr/>
        </p:nvSpPr>
        <p:spPr>
          <a:xfrm>
            <a:off x="540000" y="1260000"/>
            <a:ext cx="10079640" cy="64764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a:lnSpc>
                <a:spcPct val="100000"/>
              </a:lnSpc>
            </a:pPr>
            <a:r>
              <a:rPr lang="en-GB" sz="2800" b="1" spc="-1" noProof="0">
                <a:solidFill>
                  <a:srgbClr val="000000"/>
                </a:solidFill>
                <a:latin typeface="Arial"/>
              </a:rPr>
              <a:t>Research Questions </a:t>
            </a:r>
            <a:endParaRPr lang="en-GB" sz="2800" b="0" strike="noStrike" spc="-1" noProof="0">
              <a:latin typeface="Arial"/>
            </a:endParaRPr>
          </a:p>
        </p:txBody>
      </p:sp>
    </p:spTree>
    <p:extLst>
      <p:ext uri="{BB962C8B-B14F-4D97-AF65-F5344CB8AC3E}">
        <p14:creationId xmlns:p14="http://schemas.microsoft.com/office/powerpoint/2010/main" val="713480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p:cNvSpPr/>
          <p:nvPr/>
        </p:nvSpPr>
        <p:spPr>
          <a:xfrm>
            <a:off x="540000" y="2160000"/>
            <a:ext cx="10079640" cy="3631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lstStyle/>
          <a:p>
            <a:pPr marL="285750" indent="-285750">
              <a:lnSpc>
                <a:spcPct val="150000"/>
              </a:lnSpc>
              <a:buFont typeface="Arial" panose="020B0604020202020204" pitchFamily="34" charset="0"/>
              <a:buChar char="•"/>
            </a:pPr>
            <a:r>
              <a:rPr lang="en-GB" noProof="0"/>
              <a:t>What's the impact of negative/crisis news on the 11 GICS between China or Russia and the USA, </a:t>
            </a:r>
            <a:r>
              <a:rPr lang="de-DE" err="1"/>
              <a:t>given</a:t>
            </a:r>
            <a:r>
              <a:rPr lang="de-DE"/>
              <a:t> </a:t>
            </a:r>
            <a:r>
              <a:rPr lang="de-DE" err="1"/>
              <a:t>their</a:t>
            </a:r>
            <a:r>
              <a:rPr lang="de-DE"/>
              <a:t> </a:t>
            </a:r>
            <a:r>
              <a:rPr lang="de-DE" err="1"/>
              <a:t>differing</a:t>
            </a:r>
            <a:r>
              <a:rPr lang="de-DE"/>
              <a:t> </a:t>
            </a:r>
            <a:r>
              <a:rPr lang="de-DE" err="1"/>
              <a:t>levels</a:t>
            </a:r>
            <a:r>
              <a:rPr lang="de-DE"/>
              <a:t> of press </a:t>
            </a:r>
            <a:r>
              <a:rPr lang="de-DE" err="1"/>
              <a:t>freedom</a:t>
            </a:r>
            <a:r>
              <a:rPr lang="en-GB" noProof="0"/>
              <a:t>?</a:t>
            </a:r>
          </a:p>
          <a:p>
            <a:pPr marL="285750" indent="-285750">
              <a:lnSpc>
                <a:spcPct val="150000"/>
              </a:lnSpc>
              <a:buFont typeface="Arial" panose="020B0604020202020204" pitchFamily="34" charset="0"/>
              <a:buChar char="•"/>
            </a:pPr>
            <a:r>
              <a:rPr lang="en-GB" noProof="0"/>
              <a:t>Does the nature (positive/negative) of crisis-related news coverage predict the direction and magnitude of stock market movements?</a:t>
            </a:r>
          </a:p>
          <a:p>
            <a:pPr marL="285750" indent="-285750">
              <a:lnSpc>
                <a:spcPct val="150000"/>
              </a:lnSpc>
              <a:buFont typeface="Arial" panose="020B0604020202020204" pitchFamily="34" charset="0"/>
              <a:buChar char="•"/>
            </a:pPr>
            <a:r>
              <a:rPr lang="en-GB" noProof="0"/>
              <a:t>How does the magnitude of the initial MOEX (</a:t>
            </a:r>
            <a:r>
              <a:rPr lang="en-GB"/>
              <a:t>Moscow Exchange</a:t>
            </a:r>
            <a:r>
              <a:rPr lang="en-GB" noProof="0"/>
              <a:t>) sector index drop following the Ukraine invasion of February 2022, compare to the equivalent DAX sector drop and does the difference correlate with the gap in press freedom scores (RSF) between Russia and Germany at that time?</a:t>
            </a:r>
            <a:endParaRPr lang="en-GB" sz="1600" b="0" strike="noStrike" spc="-1" noProof="0">
              <a:latin typeface="Arial"/>
            </a:endParaRPr>
          </a:p>
          <a:p>
            <a:pPr>
              <a:lnSpc>
                <a:spcPct val="150000"/>
              </a:lnSpc>
            </a:pPr>
            <a:endParaRPr lang="en-GB" sz="1600" b="0" strike="noStrike" spc="-1" noProof="0">
              <a:latin typeface="Arial"/>
            </a:endParaRPr>
          </a:p>
        </p:txBody>
      </p:sp>
      <p:sp>
        <p:nvSpPr>
          <p:cNvPr id="4" name="CustomShape 3"/>
          <p:cNvSpPr/>
          <p:nvPr/>
        </p:nvSpPr>
        <p:spPr>
          <a:xfrm>
            <a:off x="540000" y="1260000"/>
            <a:ext cx="10079640" cy="64764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a:lnSpc>
                <a:spcPct val="100000"/>
              </a:lnSpc>
            </a:pPr>
            <a:r>
              <a:rPr lang="en-GB" sz="2800" b="1" spc="-1" noProof="0">
                <a:solidFill>
                  <a:srgbClr val="000000"/>
                </a:solidFill>
                <a:latin typeface="Arial"/>
              </a:rPr>
              <a:t>Research Questions </a:t>
            </a:r>
            <a:endParaRPr lang="en-GB" sz="2800" b="0" strike="noStrike" spc="-1" noProof="0">
              <a:latin typeface="Arial"/>
            </a:endParaRPr>
          </a:p>
        </p:txBody>
      </p:sp>
    </p:spTree>
    <p:extLst>
      <p:ext uri="{BB962C8B-B14F-4D97-AF65-F5344CB8AC3E}">
        <p14:creationId xmlns:p14="http://schemas.microsoft.com/office/powerpoint/2010/main" val="3269156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47CDA-F8B2-2641-8B45-A07F53BA3418}"/>
            </a:ext>
          </a:extLst>
        </p:cNvPr>
        <p:cNvGrpSpPr/>
        <p:nvPr/>
      </p:nvGrpSpPr>
      <p:grpSpPr>
        <a:xfrm>
          <a:off x="0" y="0"/>
          <a:ext cx="0" cy="0"/>
          <a:chOff x="0" y="0"/>
          <a:chExt cx="0" cy="0"/>
        </a:xfrm>
      </p:grpSpPr>
      <p:sp>
        <p:nvSpPr>
          <p:cNvPr id="2" name="CustomShape 1">
            <a:extLst>
              <a:ext uri="{FF2B5EF4-FFF2-40B4-BE49-F238E27FC236}">
                <a16:creationId xmlns:a16="http://schemas.microsoft.com/office/drawing/2014/main" id="{C418BF9D-7281-073F-E3DE-AC604F99B0DD}"/>
              </a:ext>
            </a:extLst>
          </p:cNvPr>
          <p:cNvSpPr/>
          <p:nvPr/>
        </p:nvSpPr>
        <p:spPr>
          <a:xfrm>
            <a:off x="540000" y="2340267"/>
            <a:ext cx="10079640" cy="1799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lstStyle/>
          <a:p>
            <a:pPr marL="285750" indent="-285750">
              <a:lnSpc>
                <a:spcPct val="150000"/>
              </a:lnSpc>
              <a:buFont typeface="Arial" panose="020B0604020202020204" pitchFamily="34" charset="0"/>
              <a:buChar char="•"/>
            </a:pPr>
            <a:r>
              <a:rPr lang="en-GB" sz="1600" b="1" spc="-1" noProof="0">
                <a:solidFill>
                  <a:srgbClr val="000000"/>
                </a:solidFill>
                <a:latin typeface="Arial"/>
              </a:rPr>
              <a:t>Weather:</a:t>
            </a:r>
          </a:p>
          <a:p>
            <a:pPr marL="742950" lvl="1" indent="-285750">
              <a:lnSpc>
                <a:spcPct val="150000"/>
              </a:lnSpc>
              <a:buFont typeface="Arial" panose="020B0604020202020204" pitchFamily="34" charset="0"/>
              <a:buChar char="•"/>
            </a:pPr>
            <a:r>
              <a:rPr lang="en-GB" sz="1600" b="1" spc="-1" noProof="0">
                <a:solidFill>
                  <a:srgbClr val="000000"/>
                </a:solidFill>
              </a:rPr>
              <a:t>Open-</a:t>
            </a:r>
            <a:r>
              <a:rPr lang="en-GB" sz="1600" b="1" spc="-1" noProof="0" err="1">
                <a:solidFill>
                  <a:srgbClr val="000000"/>
                </a:solidFill>
              </a:rPr>
              <a:t>Meteo</a:t>
            </a:r>
            <a:r>
              <a:rPr lang="en-GB" sz="1600" b="1" spc="-1" noProof="0">
                <a:solidFill>
                  <a:srgbClr val="000000"/>
                </a:solidFill>
              </a:rPr>
              <a:t> API</a:t>
            </a:r>
            <a:endParaRPr lang="en-GB" sz="1600" b="1" spc="-1" noProof="0">
              <a:solidFill>
                <a:srgbClr val="000000"/>
              </a:solidFill>
              <a:latin typeface="Arial"/>
            </a:endParaRPr>
          </a:p>
          <a:p>
            <a:pPr marL="285750" indent="-285750">
              <a:lnSpc>
                <a:spcPct val="150000"/>
              </a:lnSpc>
              <a:buFont typeface="Arial" panose="020B0604020202020204" pitchFamily="34" charset="0"/>
              <a:buChar char="•"/>
            </a:pPr>
            <a:r>
              <a:rPr lang="en-GB" sz="1600" b="1" spc="-1" noProof="0">
                <a:solidFill>
                  <a:srgbClr val="000000"/>
                </a:solidFill>
                <a:latin typeface="Arial"/>
              </a:rPr>
              <a:t>Energy: </a:t>
            </a:r>
          </a:p>
          <a:p>
            <a:pPr marL="742950" lvl="1" indent="-285750">
              <a:lnSpc>
                <a:spcPct val="150000"/>
              </a:lnSpc>
              <a:buFont typeface="Arial" panose="020B0604020202020204" pitchFamily="34" charset="0"/>
              <a:buChar char="•"/>
            </a:pPr>
            <a:r>
              <a:rPr lang="en-GB" sz="1600" b="1" spc="-1" noProof="0">
                <a:solidFill>
                  <a:srgbClr val="000000"/>
                </a:solidFill>
                <a:latin typeface="Arial"/>
              </a:rPr>
              <a:t>Energy-Charts API</a:t>
            </a:r>
          </a:p>
          <a:p>
            <a:pPr marL="742950" lvl="1" indent="-285750">
              <a:lnSpc>
                <a:spcPct val="150000"/>
              </a:lnSpc>
              <a:buFont typeface="Arial" panose="020B0604020202020204" pitchFamily="34" charset="0"/>
              <a:buChar char="•"/>
            </a:pPr>
            <a:endParaRPr lang="en-GB" sz="1600" b="1" spc="-1" noProof="0">
              <a:solidFill>
                <a:srgbClr val="000000"/>
              </a:solidFill>
              <a:latin typeface="Arial"/>
            </a:endParaRPr>
          </a:p>
          <a:p>
            <a:pPr lvl="1">
              <a:lnSpc>
                <a:spcPct val="150000"/>
              </a:lnSpc>
            </a:pPr>
            <a:endParaRPr lang="en-GB" sz="1600" b="1" spc="-1" noProof="0">
              <a:solidFill>
                <a:srgbClr val="000000"/>
              </a:solidFill>
              <a:latin typeface="Arial"/>
            </a:endParaRPr>
          </a:p>
          <a:p>
            <a:pPr marL="742950" lvl="1" indent="-285750">
              <a:lnSpc>
                <a:spcPct val="150000"/>
              </a:lnSpc>
              <a:buFont typeface="Arial" panose="020B0604020202020204" pitchFamily="34" charset="0"/>
              <a:buChar char="•"/>
            </a:pPr>
            <a:endParaRPr lang="en-GB" sz="1600" b="1" spc="-1" noProof="0">
              <a:solidFill>
                <a:srgbClr val="000000"/>
              </a:solidFill>
              <a:latin typeface="Arial"/>
            </a:endParaRPr>
          </a:p>
          <a:p>
            <a:pPr marL="742950" lvl="1" indent="-285750">
              <a:lnSpc>
                <a:spcPct val="150000"/>
              </a:lnSpc>
              <a:buFont typeface="Arial" panose="020B0604020202020204" pitchFamily="34" charset="0"/>
              <a:buChar char="•"/>
            </a:pPr>
            <a:endParaRPr lang="en-GB" sz="1600" b="1" spc="-1" noProof="0">
              <a:solidFill>
                <a:srgbClr val="000000"/>
              </a:solidFill>
              <a:latin typeface="Arial"/>
            </a:endParaRPr>
          </a:p>
          <a:p>
            <a:pPr marL="742950" lvl="1" indent="-285750">
              <a:lnSpc>
                <a:spcPct val="150000"/>
              </a:lnSpc>
              <a:buFont typeface="Arial" panose="020B0604020202020204" pitchFamily="34" charset="0"/>
              <a:buChar char="•"/>
            </a:pPr>
            <a:endParaRPr lang="en-GB" sz="1600" b="1" spc="-1" noProof="0"/>
          </a:p>
          <a:p>
            <a:pPr>
              <a:lnSpc>
                <a:spcPct val="150000"/>
              </a:lnSpc>
            </a:pPr>
            <a:endParaRPr lang="en-GB" sz="1600" b="1" spc="-1" noProof="0"/>
          </a:p>
        </p:txBody>
      </p:sp>
      <p:sp>
        <p:nvSpPr>
          <p:cNvPr id="5" name="CustomShape 3">
            <a:extLst>
              <a:ext uri="{FF2B5EF4-FFF2-40B4-BE49-F238E27FC236}">
                <a16:creationId xmlns:a16="http://schemas.microsoft.com/office/drawing/2014/main" id="{83B0A4A5-7E36-F603-F040-9CF5668564E7}"/>
              </a:ext>
            </a:extLst>
          </p:cNvPr>
          <p:cNvSpPr/>
          <p:nvPr/>
        </p:nvSpPr>
        <p:spPr>
          <a:xfrm>
            <a:off x="540000" y="1260000"/>
            <a:ext cx="7913535" cy="900000"/>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lstStyle/>
          <a:p>
            <a:r>
              <a:rPr lang="en-GB" sz="2800" b="1" spc="-1" noProof="0">
                <a:solidFill>
                  <a:srgbClr val="000000"/>
                </a:solidFill>
              </a:rPr>
              <a:t>Topic 2: </a:t>
            </a:r>
            <a:r>
              <a:rPr lang="en-GB" sz="2800" b="1" noProof="0"/>
              <a:t>Energy sector of countries in </a:t>
            </a:r>
            <a:r>
              <a:rPr lang="en-GB" sz="2800" b="1"/>
              <a:t>relation</a:t>
            </a:r>
            <a:r>
              <a:rPr lang="en-GB" sz="2800" b="1" noProof="0"/>
              <a:t> to weather events</a:t>
            </a:r>
          </a:p>
          <a:p>
            <a:pPr>
              <a:lnSpc>
                <a:spcPct val="100000"/>
              </a:lnSpc>
            </a:pPr>
            <a:endParaRPr lang="en-GB" sz="2800" b="0" strike="noStrike" spc="-1" noProof="0">
              <a:latin typeface="Arial"/>
            </a:endParaRPr>
          </a:p>
        </p:txBody>
      </p:sp>
      <p:pic>
        <p:nvPicPr>
          <p:cNvPr id="3" name="Grafik 2">
            <a:extLst>
              <a:ext uri="{FF2B5EF4-FFF2-40B4-BE49-F238E27FC236}">
                <a16:creationId xmlns:a16="http://schemas.microsoft.com/office/drawing/2014/main" id="{10020CE9-6019-ABB4-BEBB-51C7482392DE}"/>
              </a:ext>
            </a:extLst>
          </p:cNvPr>
          <p:cNvPicPr>
            <a:picLocks noChangeAspect="1"/>
          </p:cNvPicPr>
          <p:nvPr/>
        </p:nvPicPr>
        <p:blipFill>
          <a:blip r:embed="rId3"/>
          <a:stretch>
            <a:fillRect/>
          </a:stretch>
        </p:blipFill>
        <p:spPr>
          <a:xfrm>
            <a:off x="4942967" y="2343736"/>
            <a:ext cx="6049943" cy="3425046"/>
          </a:xfrm>
          <a:prstGeom prst="rect">
            <a:avLst/>
          </a:prstGeom>
        </p:spPr>
      </p:pic>
    </p:spTree>
    <p:extLst>
      <p:ext uri="{BB962C8B-B14F-4D97-AF65-F5344CB8AC3E}">
        <p14:creationId xmlns:p14="http://schemas.microsoft.com/office/powerpoint/2010/main" val="14457897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42735-6B1C-B068-3C82-927DEF3F5615}"/>
            </a:ext>
          </a:extLst>
        </p:cNvPr>
        <p:cNvGrpSpPr/>
        <p:nvPr/>
      </p:nvGrpSpPr>
      <p:grpSpPr>
        <a:xfrm>
          <a:off x="0" y="0"/>
          <a:ext cx="0" cy="0"/>
          <a:chOff x="0" y="0"/>
          <a:chExt cx="0" cy="0"/>
        </a:xfrm>
      </p:grpSpPr>
      <p:sp>
        <p:nvSpPr>
          <p:cNvPr id="2" name="CustomShape 1">
            <a:extLst>
              <a:ext uri="{FF2B5EF4-FFF2-40B4-BE49-F238E27FC236}">
                <a16:creationId xmlns:a16="http://schemas.microsoft.com/office/drawing/2014/main" id="{A239DF11-C0CF-3E9C-FD04-502A3C034711}"/>
              </a:ext>
            </a:extLst>
          </p:cNvPr>
          <p:cNvSpPr/>
          <p:nvPr/>
        </p:nvSpPr>
        <p:spPr>
          <a:xfrm>
            <a:off x="540000" y="2160000"/>
            <a:ext cx="10079640" cy="3631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lstStyle/>
          <a:p>
            <a:pPr marL="285750" indent="-285750">
              <a:lnSpc>
                <a:spcPct val="150000"/>
              </a:lnSpc>
              <a:buFont typeface="Arial" panose="020B0604020202020204" pitchFamily="34" charset="0"/>
              <a:buChar char="•"/>
            </a:pPr>
            <a:r>
              <a:rPr lang="en-GB" noProof="0"/>
              <a:t>How does a heatwave event simultaneously affect solar generation output and hydro generation output in Spain between 2015 and 2024, and which effect dominates in net MWh terms? </a:t>
            </a:r>
          </a:p>
          <a:p>
            <a:pPr marL="285750" indent="-285750">
              <a:lnSpc>
                <a:spcPct val="150000"/>
              </a:lnSpc>
              <a:buFont typeface="Arial" panose="020B0604020202020204" pitchFamily="34" charset="0"/>
              <a:buChar char="•"/>
            </a:pPr>
            <a:r>
              <a:rPr lang="en-GB" noProof="0"/>
              <a:t>To what extent do countries with a higher share of renewables in their energy mix show greater electricity price volatility during extreme weather events compared to countries with a fossil-fuel-dominated mix?</a:t>
            </a:r>
          </a:p>
          <a:p>
            <a:pPr marL="285750" indent="-285750">
              <a:lnSpc>
                <a:spcPct val="150000"/>
              </a:lnSpc>
              <a:buFont typeface="Arial" panose="020B0604020202020204" pitchFamily="34" charset="0"/>
              <a:buChar char="•"/>
            </a:pPr>
            <a:r>
              <a:rPr lang="en-GB" b="0" strike="noStrike" spc="-1" noProof="0">
                <a:latin typeface="Arial"/>
              </a:rPr>
              <a:t>How is renewable electricity generation associated with regional meteorological conditions between Northern and Southern European countries, and has the strength of this relationship changed over time?</a:t>
            </a:r>
          </a:p>
          <a:p>
            <a:pPr>
              <a:lnSpc>
                <a:spcPct val="150000"/>
              </a:lnSpc>
            </a:pPr>
            <a:endParaRPr lang="en-GB" sz="1600" b="0" strike="noStrike" spc="-1" noProof="0">
              <a:latin typeface="Arial"/>
            </a:endParaRPr>
          </a:p>
        </p:txBody>
      </p:sp>
      <p:sp>
        <p:nvSpPr>
          <p:cNvPr id="4" name="CustomShape 3">
            <a:extLst>
              <a:ext uri="{FF2B5EF4-FFF2-40B4-BE49-F238E27FC236}">
                <a16:creationId xmlns:a16="http://schemas.microsoft.com/office/drawing/2014/main" id="{D0F15142-3821-77CE-8D55-6A908D6D96FE}"/>
              </a:ext>
            </a:extLst>
          </p:cNvPr>
          <p:cNvSpPr/>
          <p:nvPr/>
        </p:nvSpPr>
        <p:spPr>
          <a:xfrm>
            <a:off x="540000" y="1260000"/>
            <a:ext cx="10079640" cy="64764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a:lnSpc>
                <a:spcPct val="100000"/>
              </a:lnSpc>
            </a:pPr>
            <a:r>
              <a:rPr lang="en-GB" sz="2800" b="1" spc="-1" noProof="0">
                <a:solidFill>
                  <a:srgbClr val="000000"/>
                </a:solidFill>
                <a:latin typeface="Arial"/>
              </a:rPr>
              <a:t>Research Questions </a:t>
            </a:r>
            <a:endParaRPr lang="en-GB" sz="2800" b="0" strike="noStrike" spc="-1" noProof="0">
              <a:latin typeface="Arial"/>
            </a:endParaRPr>
          </a:p>
        </p:txBody>
      </p:sp>
    </p:spTree>
    <p:extLst>
      <p:ext uri="{BB962C8B-B14F-4D97-AF65-F5344CB8AC3E}">
        <p14:creationId xmlns:p14="http://schemas.microsoft.com/office/powerpoint/2010/main" val="2502737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92D62-82F0-0B0C-59AB-6CF18338CA88}"/>
            </a:ext>
          </a:extLst>
        </p:cNvPr>
        <p:cNvGrpSpPr/>
        <p:nvPr/>
      </p:nvGrpSpPr>
      <p:grpSpPr>
        <a:xfrm>
          <a:off x="0" y="0"/>
          <a:ext cx="0" cy="0"/>
          <a:chOff x="0" y="0"/>
          <a:chExt cx="0" cy="0"/>
        </a:xfrm>
      </p:grpSpPr>
      <p:sp>
        <p:nvSpPr>
          <p:cNvPr id="2" name="CustomShape 1">
            <a:extLst>
              <a:ext uri="{FF2B5EF4-FFF2-40B4-BE49-F238E27FC236}">
                <a16:creationId xmlns:a16="http://schemas.microsoft.com/office/drawing/2014/main" id="{475793A5-60BD-BEDC-BB01-23FC7F18427F}"/>
              </a:ext>
            </a:extLst>
          </p:cNvPr>
          <p:cNvSpPr/>
          <p:nvPr/>
        </p:nvSpPr>
        <p:spPr>
          <a:xfrm>
            <a:off x="540000" y="2160000"/>
            <a:ext cx="10079640" cy="3631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lstStyle/>
          <a:p>
            <a:pPr marL="285750" indent="-285750">
              <a:lnSpc>
                <a:spcPct val="150000"/>
              </a:lnSpc>
              <a:buFont typeface="Arial" panose="020B0604020202020204" pitchFamily="34" charset="0"/>
              <a:buChar char="•"/>
            </a:pPr>
            <a:r>
              <a:rPr lang="en-GB" noProof="0"/>
              <a:t>In drought years, do countries with high hydro dependency show a statistically significant increase in fossil fuel backup generation compared to countries with a diversified energy mix?</a:t>
            </a:r>
          </a:p>
          <a:p>
            <a:pPr marL="285750" indent="-285750">
              <a:lnSpc>
                <a:spcPct val="150000"/>
              </a:lnSpc>
              <a:buFont typeface="Arial" panose="020B0604020202020204" pitchFamily="34" charset="0"/>
              <a:buChar char="•"/>
            </a:pPr>
            <a:r>
              <a:rPr lang="en-GB" noProof="0"/>
              <a:t>Do countries with higher average wind speeds generate proportionally more electricity per installed wind turbine capacity than countries with lower wind speeds, and which countries over- or underperform relative to their wind potential?</a:t>
            </a:r>
          </a:p>
          <a:p>
            <a:pPr marL="285750" indent="-285750">
              <a:lnSpc>
                <a:spcPct val="150000"/>
              </a:lnSpc>
              <a:buFont typeface="Arial" panose="020B0604020202020204" pitchFamily="34" charset="0"/>
              <a:buChar char="•"/>
            </a:pPr>
            <a:r>
              <a:rPr lang="en-GB" noProof="0"/>
              <a:t>Has the growing share of weather-dependent renewable energy increased the volatility of national electricity generation during extreme weather events, and to what extent do cross-border electricity imports mitigate this volatility differently across countries?</a:t>
            </a:r>
            <a:endParaRPr lang="en-GB" sz="1600" b="0" strike="noStrike" spc="-1" noProof="0">
              <a:latin typeface="Arial"/>
            </a:endParaRPr>
          </a:p>
        </p:txBody>
      </p:sp>
      <p:sp>
        <p:nvSpPr>
          <p:cNvPr id="4" name="CustomShape 3">
            <a:extLst>
              <a:ext uri="{FF2B5EF4-FFF2-40B4-BE49-F238E27FC236}">
                <a16:creationId xmlns:a16="http://schemas.microsoft.com/office/drawing/2014/main" id="{B4852B93-BC30-3B30-F6FE-AE81A6063E11}"/>
              </a:ext>
            </a:extLst>
          </p:cNvPr>
          <p:cNvSpPr/>
          <p:nvPr/>
        </p:nvSpPr>
        <p:spPr>
          <a:xfrm>
            <a:off x="540000" y="1260000"/>
            <a:ext cx="10079640" cy="64764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a:lnSpc>
                <a:spcPct val="100000"/>
              </a:lnSpc>
            </a:pPr>
            <a:r>
              <a:rPr lang="en-GB" sz="2800" b="1" spc="-1" noProof="0">
                <a:solidFill>
                  <a:srgbClr val="000000"/>
                </a:solidFill>
                <a:latin typeface="Arial"/>
              </a:rPr>
              <a:t>Research Questions </a:t>
            </a:r>
            <a:endParaRPr lang="en-GB" sz="2800" b="0" strike="noStrike" spc="-1" noProof="0">
              <a:latin typeface="Arial"/>
            </a:endParaRPr>
          </a:p>
        </p:txBody>
      </p:sp>
    </p:spTree>
    <p:extLst>
      <p:ext uri="{BB962C8B-B14F-4D97-AF65-F5344CB8AC3E}">
        <p14:creationId xmlns:p14="http://schemas.microsoft.com/office/powerpoint/2010/main" val="1555917897"/>
      </p:ext>
    </p:extLst>
  </p:cSld>
  <p:clrMapOvr>
    <a:masterClrMapping/>
  </p:clrMapOvr>
</p:sld>
</file>

<file path=ppt/theme/theme1.xml><?xml version="1.0" encoding="utf-8"?>
<a:theme xmlns:a="http://schemas.openxmlformats.org/drawingml/2006/main" name="Hauptfoil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infache Foli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inimale Foli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426</Words>
  <Application>Microsoft Office PowerPoint</Application>
  <PresentationFormat>Benutzerdefiniert</PresentationFormat>
  <Paragraphs>33</Paragraphs>
  <Slides>7</Slides>
  <Notes>2</Notes>
  <HiddenSlides>0</HiddenSlides>
  <MMClips>0</MMClips>
  <ScaleCrop>false</ScaleCrop>
  <HeadingPairs>
    <vt:vector size="6" baseType="variant">
      <vt:variant>
        <vt:lpstr>Verwendete Schriftarten</vt:lpstr>
      </vt:variant>
      <vt:variant>
        <vt:i4>3</vt:i4>
      </vt:variant>
      <vt:variant>
        <vt:lpstr>Design</vt:lpstr>
      </vt:variant>
      <vt:variant>
        <vt:i4>3</vt:i4>
      </vt:variant>
      <vt:variant>
        <vt:lpstr>Folientitel</vt:lpstr>
      </vt:variant>
      <vt:variant>
        <vt:i4>7</vt:i4>
      </vt:variant>
    </vt:vector>
  </HeadingPairs>
  <TitlesOfParts>
    <vt:vector size="13" baseType="lpstr">
      <vt:lpstr>Arial</vt:lpstr>
      <vt:lpstr>Calibri</vt:lpstr>
      <vt:lpstr>URW DIN</vt:lpstr>
      <vt:lpstr>Hauptfoile</vt:lpstr>
      <vt:lpstr>Einfache Folie</vt:lpstr>
      <vt:lpstr>Minimale Folie</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Muster</dc:title>
  <dc:subject/>
  <dc:creator>Universität Kiel  (CAU)</dc:creator>
  <dc:description/>
  <cp:lastModifiedBy>Sören Green</cp:lastModifiedBy>
  <cp:revision>2</cp:revision>
  <cp:lastPrinted>1601-01-01T00:00:00Z</cp:lastPrinted>
  <dcterms:created xsi:type="dcterms:W3CDTF">2010-06-02T10:39:48Z</dcterms:created>
  <dcterms:modified xsi:type="dcterms:W3CDTF">2026-08-21T09:45:25Z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Benutzerdefiniert</vt:lpwstr>
  </property>
  <property fmtid="{D5CDD505-2E9C-101B-9397-08002B2CF9AE}" pid="9" name="ScaleCrop">
    <vt:bool>false</vt:bool>
  </property>
  <property fmtid="{D5CDD505-2E9C-101B-9397-08002B2CF9AE}" pid="10" name="ShareDoc">
    <vt:bool>false</vt:bool>
  </property>
  <property fmtid="{D5CDD505-2E9C-101B-9397-08002B2CF9AE}" pid="11" name="Slides">
    <vt:i4>3</vt:i4>
  </property>
</Properties>
</file>